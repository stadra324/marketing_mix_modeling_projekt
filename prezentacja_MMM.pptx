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d33362d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d33362d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d33362da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d33362da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d33362da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d33362da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d33362da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d33362da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d33362da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d33362da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d383fae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d383fae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d383fae6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d383fae6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d3bee438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d3bee438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d383fae6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d383fae6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d383fae6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d383fae6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d383fae6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d383fae6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3F3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6200"/>
              <a:t>B02</a:t>
            </a:r>
            <a:endParaRPr b="1" sz="6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4000">
                <a:solidFill>
                  <a:srgbClr val="7B7979"/>
                </a:solidFill>
              </a:rPr>
              <a:t>CHAIN 3</a:t>
            </a:r>
            <a:endParaRPr sz="4000">
              <a:solidFill>
                <a:srgbClr val="7B7979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7694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B7B7B7"/>
                </a:solidFill>
              </a:rPr>
              <a:t>Analiza wolumenu w okresie 2010 -2011</a:t>
            </a:r>
            <a:endParaRPr>
              <a:solidFill>
                <a:srgbClr val="B7B7B7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413000" y="2769475"/>
            <a:ext cx="631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" name="Google Shape;57;p13"/>
          <p:cNvSpPr txBox="1"/>
          <p:nvPr/>
        </p:nvSpPr>
        <p:spPr>
          <a:xfrm>
            <a:off x="8064000" y="4674600"/>
            <a:ext cx="10800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000">
                <a:solidFill>
                  <a:srgbClr val="CCCCCC"/>
                </a:solidFill>
              </a:rPr>
              <a:t>Stanisław Drąg</a:t>
            </a:r>
            <a:endParaRPr sz="1000"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700">
                <a:solidFill>
                  <a:srgbClr val="CCCCCC"/>
                </a:solidFill>
              </a:rPr>
              <a:t>MMM 2026</a:t>
            </a:r>
            <a:endParaRPr sz="700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0" y="-34875"/>
            <a:ext cx="2706600" cy="5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1120"/>
              <a:t>Wpływ poszczególnych czynników na wolumen sprzedaży </a:t>
            </a:r>
            <a:endParaRPr b="1" sz="11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720">
                <a:solidFill>
                  <a:srgbClr val="999999"/>
                </a:solidFill>
              </a:rPr>
              <a:t>Dekompozycja tygodniowa w okresie 2010 - 2011</a:t>
            </a:r>
            <a:endParaRPr sz="720">
              <a:solidFill>
                <a:srgbClr val="999999"/>
              </a:solidFill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 title="dekompozycja_no_lege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50" y="606425"/>
            <a:ext cx="7307649" cy="444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 title="dekompozycja_legend_onl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9900" y="3029250"/>
            <a:ext cx="1657650" cy="168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6095650" y="57475"/>
            <a:ext cx="2931900" cy="1065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pl" sz="900">
                <a:solidFill>
                  <a:schemeClr val="dk1"/>
                </a:solidFill>
              </a:rPr>
              <a:t>dobre </a:t>
            </a:r>
            <a:r>
              <a:rPr b="1" lang="pl" sz="900">
                <a:solidFill>
                  <a:srgbClr val="FF00FF"/>
                </a:solidFill>
              </a:rPr>
              <a:t>dopas</a:t>
            </a:r>
            <a:r>
              <a:rPr b="1" lang="pl" sz="900">
                <a:solidFill>
                  <a:srgbClr val="9900FF"/>
                </a:solidFill>
              </a:rPr>
              <a:t>owanie</a:t>
            </a:r>
            <a:r>
              <a:rPr lang="pl" sz="900">
                <a:solidFill>
                  <a:schemeClr val="dk1"/>
                </a:solidFill>
              </a:rPr>
              <a:t> modelu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pl" sz="900">
                <a:solidFill>
                  <a:schemeClr val="dk1"/>
                </a:solidFill>
              </a:rPr>
              <a:t>wysoki </a:t>
            </a:r>
            <a:r>
              <a:rPr b="1" lang="pl" sz="900">
                <a:solidFill>
                  <a:srgbClr val="999999"/>
                </a:solidFill>
              </a:rPr>
              <a:t>poziom bazowy</a:t>
            </a:r>
            <a:endParaRPr b="1" sz="900">
              <a:solidFill>
                <a:srgbClr val="999999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pl" sz="900">
                <a:solidFill>
                  <a:schemeClr val="dk1"/>
                </a:solidFill>
              </a:rPr>
              <a:t>rosnący negatywny wpływ </a:t>
            </a:r>
            <a:r>
              <a:rPr b="1" lang="pl" sz="900">
                <a:solidFill>
                  <a:srgbClr val="FF9900"/>
                </a:solidFill>
              </a:rPr>
              <a:t>ceny 04XCN0500</a:t>
            </a:r>
            <a:endParaRPr b="1" sz="900">
              <a:solidFill>
                <a:srgbClr val="FF9900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pl" sz="900">
                <a:solidFill>
                  <a:schemeClr val="dk1"/>
                </a:solidFill>
              </a:rPr>
              <a:t>silny i stabilny pozytywny wpływ </a:t>
            </a:r>
            <a:r>
              <a:rPr b="1" lang="pl" sz="900">
                <a:solidFill>
                  <a:srgbClr val="00FFFF"/>
                </a:solidFill>
              </a:rPr>
              <a:t>ekspozycji</a:t>
            </a:r>
            <a:endParaRPr b="1" sz="900">
              <a:solidFill>
                <a:srgbClr val="00FFFF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pl" sz="900">
                <a:solidFill>
                  <a:schemeClr val="dk1"/>
                </a:solidFill>
              </a:rPr>
              <a:t>silny pozytywny wpływ </a:t>
            </a:r>
            <a:r>
              <a:rPr b="1" lang="pl" sz="900">
                <a:solidFill>
                  <a:schemeClr val="accent1"/>
                </a:solidFill>
              </a:rPr>
              <a:t>in-outów</a:t>
            </a:r>
            <a:r>
              <a:rPr lang="pl" sz="900">
                <a:solidFill>
                  <a:schemeClr val="dk1"/>
                </a:solidFill>
              </a:rPr>
              <a:t> (od kwietnia 2011)</a:t>
            </a:r>
            <a:endParaRPr b="1" sz="9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0" y="-40625"/>
            <a:ext cx="2036400" cy="5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1120"/>
              <a:t>Łączne udziały</a:t>
            </a:r>
            <a:r>
              <a:rPr b="1" lang="pl" sz="1120"/>
              <a:t> czynników w sprzedaży </a:t>
            </a:r>
            <a:endParaRPr b="1" sz="11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720">
                <a:solidFill>
                  <a:srgbClr val="999999"/>
                </a:solidFill>
              </a:rPr>
              <a:t>Ujęcie wolumenowe</a:t>
            </a:r>
            <a:r>
              <a:rPr lang="pl" sz="720">
                <a:solidFill>
                  <a:srgbClr val="999999"/>
                </a:solidFill>
              </a:rPr>
              <a:t> w okresie 2010 - 2011</a:t>
            </a:r>
            <a:endParaRPr sz="720">
              <a:solidFill>
                <a:srgbClr val="999999"/>
              </a:solidFill>
            </a:endParaRPr>
          </a:p>
        </p:txBody>
      </p:sp>
      <p:pic>
        <p:nvPicPr>
          <p:cNvPr id="73" name="Google Shape;73;p15" title="R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100" y="600575"/>
            <a:ext cx="8967275" cy="40452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94100" y="4814700"/>
            <a:ext cx="55158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800">
                <a:solidFill>
                  <a:srgbClr val="999999"/>
                </a:solidFill>
              </a:rPr>
              <a:t>*dla ceny punktem odniesienia jest średnia z pierwszych 14 tygodni 2010</a:t>
            </a:r>
            <a:endParaRPr sz="8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0" y="-40625"/>
            <a:ext cx="2273400" cy="5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1120"/>
              <a:t>Zmiany łącznych wpływów czynników z roku 2010 na 2011</a:t>
            </a:r>
            <a:endParaRPr b="1" sz="11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720">
                <a:solidFill>
                  <a:srgbClr val="999999"/>
                </a:solidFill>
              </a:rPr>
              <a:t>Ujęcie wolumenowe</a:t>
            </a:r>
            <a:endParaRPr sz="720">
              <a:solidFill>
                <a:srgbClr val="999999"/>
              </a:solidFill>
            </a:endParaRPr>
          </a:p>
        </p:txBody>
      </p:sp>
      <p:pic>
        <p:nvPicPr>
          <p:cNvPr id="81" name="Google Shape;81;p16" title="R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50" y="577025"/>
            <a:ext cx="8924125" cy="44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438825"/>
            <a:ext cx="8520600" cy="31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>
            <p:ph type="title"/>
          </p:nvPr>
        </p:nvSpPr>
        <p:spPr>
          <a:xfrm>
            <a:off x="0" y="-40625"/>
            <a:ext cx="2442600" cy="5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1120"/>
              <a:t>Zmiany </a:t>
            </a:r>
            <a:r>
              <a:rPr b="1" lang="pl" sz="1120"/>
              <a:t>wpływu</a:t>
            </a:r>
            <a:r>
              <a:rPr b="1" lang="pl" sz="1120"/>
              <a:t> poszczególnych czynników z roku 2010 na 2011</a:t>
            </a:r>
            <a:endParaRPr b="1" sz="11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720">
                <a:solidFill>
                  <a:srgbClr val="999999"/>
                </a:solidFill>
              </a:rPr>
              <a:t>Ujęcie wolumenowe</a:t>
            </a:r>
            <a:endParaRPr sz="720">
              <a:solidFill>
                <a:srgbClr val="999999"/>
              </a:solidFill>
            </a:endParaRPr>
          </a:p>
        </p:txBody>
      </p:sp>
      <p:pic>
        <p:nvPicPr>
          <p:cNvPr id="88" name="Google Shape;88;p17" title="R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75" y="592325"/>
            <a:ext cx="8921150" cy="448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0" y="1891050"/>
            <a:ext cx="91440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7530">
                <a:solidFill>
                  <a:srgbClr val="EFEFEF"/>
                </a:solidFill>
              </a:rPr>
              <a:t>PODSUMOWANIE</a:t>
            </a:r>
            <a:r>
              <a:rPr lang="pl" sz="7530">
                <a:solidFill>
                  <a:srgbClr val="CCCCCC"/>
                </a:solidFill>
              </a:rPr>
              <a:t> </a:t>
            </a:r>
            <a:endParaRPr sz="7530">
              <a:solidFill>
                <a:srgbClr val="CCCCCC"/>
              </a:solidFill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2352900" y="613150"/>
            <a:ext cx="4438200" cy="20439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l" sz="1600">
                <a:solidFill>
                  <a:schemeClr val="dk1"/>
                </a:solidFill>
              </a:rPr>
              <a:t>rosnący </a:t>
            </a:r>
            <a:r>
              <a:rPr b="1" lang="pl" sz="1600">
                <a:solidFill>
                  <a:srgbClr val="E69138"/>
                </a:solidFill>
              </a:rPr>
              <a:t>negatywny</a:t>
            </a:r>
            <a:r>
              <a:rPr lang="pl" sz="1600">
                <a:solidFill>
                  <a:schemeClr val="dk1"/>
                </a:solidFill>
              </a:rPr>
              <a:t> wpływ działań </a:t>
            </a:r>
            <a:r>
              <a:rPr lang="pl" sz="1600">
                <a:solidFill>
                  <a:schemeClr val="dk1"/>
                </a:solidFill>
                <a:highlight>
                  <a:srgbClr val="F6B26B"/>
                </a:highlight>
              </a:rPr>
              <a:t>cenowych</a:t>
            </a:r>
            <a:r>
              <a:rPr lang="pl" sz="1600">
                <a:solidFill>
                  <a:schemeClr val="dk1"/>
                </a:solidFill>
              </a:rPr>
              <a:t> względem początku okresu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l" sz="1600">
                <a:solidFill>
                  <a:schemeClr val="dk1"/>
                </a:solidFill>
              </a:rPr>
              <a:t>silny i stabilny </a:t>
            </a:r>
            <a:r>
              <a:rPr b="1" lang="pl" sz="1600">
                <a:solidFill>
                  <a:srgbClr val="9AFCFC"/>
                </a:solidFill>
              </a:rPr>
              <a:t>pozytywny</a:t>
            </a:r>
            <a:r>
              <a:rPr lang="pl" sz="1600">
                <a:solidFill>
                  <a:schemeClr val="dk1"/>
                </a:solidFill>
              </a:rPr>
              <a:t> wpływ </a:t>
            </a:r>
            <a:r>
              <a:rPr lang="pl" sz="1600">
                <a:solidFill>
                  <a:schemeClr val="dk1"/>
                </a:solidFill>
                <a:highlight>
                  <a:srgbClr val="B2E7E7"/>
                </a:highlight>
              </a:rPr>
              <a:t>ekspozycji</a:t>
            </a:r>
            <a:endParaRPr sz="1600">
              <a:solidFill>
                <a:schemeClr val="dk1"/>
              </a:solidFill>
              <a:highlight>
                <a:srgbClr val="B2E7E7"/>
              </a:highlight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l" sz="1600">
                <a:solidFill>
                  <a:schemeClr val="dk1"/>
                </a:solidFill>
              </a:rPr>
              <a:t>silny </a:t>
            </a:r>
            <a:r>
              <a:rPr b="1" lang="pl" sz="1600">
                <a:solidFill>
                  <a:schemeClr val="accent1"/>
                </a:solidFill>
              </a:rPr>
              <a:t>pozytywny</a:t>
            </a:r>
            <a:r>
              <a:rPr lang="pl" sz="1600">
                <a:solidFill>
                  <a:schemeClr val="dk1"/>
                </a:solidFill>
              </a:rPr>
              <a:t> efekt </a:t>
            </a:r>
            <a:r>
              <a:rPr lang="pl" sz="1600">
                <a:solidFill>
                  <a:schemeClr val="dk1"/>
                </a:solidFill>
                <a:highlight>
                  <a:srgbClr val="6D9EEB"/>
                </a:highlight>
              </a:rPr>
              <a:t>in-outów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pl" sz="1600">
                <a:solidFill>
                  <a:schemeClr val="dk1"/>
                </a:solidFill>
              </a:rPr>
              <a:t>największy wpływ </a:t>
            </a:r>
            <a:r>
              <a:rPr lang="pl" sz="1600">
                <a:solidFill>
                  <a:srgbClr val="6D9EEB"/>
                </a:solidFill>
              </a:rPr>
              <a:t>12XCN0500_2GR</a:t>
            </a:r>
            <a:endParaRPr sz="1600">
              <a:solidFill>
                <a:srgbClr val="6D9EEB"/>
              </a:solidFill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3039750" y="105700"/>
            <a:ext cx="3064500" cy="439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700">
                <a:solidFill>
                  <a:schemeClr val="dk1"/>
                </a:solidFill>
              </a:rPr>
              <a:t>NAJWAŻNIEJSZE </a:t>
            </a:r>
            <a:r>
              <a:rPr b="1" lang="pl" sz="1700">
                <a:solidFill>
                  <a:schemeClr val="dk1"/>
                </a:solidFill>
              </a:rPr>
              <a:t>WNIOSKI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3039750" y="2838250"/>
            <a:ext cx="3064500" cy="439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800">
                <a:solidFill>
                  <a:srgbClr val="666666"/>
                </a:solidFill>
              </a:rPr>
              <a:t>DALSZE ANALIZY</a:t>
            </a:r>
            <a:endParaRPr b="1" sz="1800">
              <a:solidFill>
                <a:srgbClr val="666666"/>
              </a:solidFill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2352900" y="3351275"/>
            <a:ext cx="4438200" cy="12012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Char char="●"/>
            </a:pPr>
            <a:r>
              <a:rPr lang="pl" sz="1600">
                <a:solidFill>
                  <a:srgbClr val="666666"/>
                </a:solidFill>
              </a:rPr>
              <a:t>efekt netto </a:t>
            </a:r>
            <a:r>
              <a:rPr lang="pl" sz="1600">
                <a:solidFill>
                  <a:srgbClr val="666666"/>
                </a:solidFill>
              </a:rPr>
              <a:t>działań </a:t>
            </a:r>
            <a:r>
              <a:rPr lang="pl" sz="1600">
                <a:solidFill>
                  <a:srgbClr val="666666"/>
                </a:solidFill>
                <a:highlight>
                  <a:srgbClr val="FCE5CD"/>
                </a:highlight>
              </a:rPr>
              <a:t>cenowych</a:t>
            </a:r>
            <a:endParaRPr sz="1600">
              <a:solidFill>
                <a:srgbClr val="666666"/>
              </a:solidFill>
            </a:endParaRPr>
          </a:p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600"/>
              <a:buChar char="●"/>
            </a:pPr>
            <a:r>
              <a:rPr lang="pl" sz="1600">
                <a:solidFill>
                  <a:srgbClr val="666666"/>
                </a:solidFill>
              </a:rPr>
              <a:t>efekt netto i potencjał </a:t>
            </a:r>
            <a:r>
              <a:rPr lang="pl" sz="1600">
                <a:solidFill>
                  <a:srgbClr val="666666"/>
                </a:solidFill>
                <a:highlight>
                  <a:srgbClr val="C2F2F2"/>
                </a:highlight>
              </a:rPr>
              <a:t>ekspozycji</a:t>
            </a:r>
            <a:endParaRPr sz="1600">
              <a:solidFill>
                <a:srgbClr val="666666"/>
              </a:solidFill>
              <a:highlight>
                <a:srgbClr val="C2F2F2"/>
              </a:highlight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600"/>
              <a:buChar char="●"/>
            </a:pPr>
            <a:r>
              <a:rPr lang="pl" sz="1600">
                <a:solidFill>
                  <a:srgbClr val="666666"/>
                </a:solidFill>
              </a:rPr>
              <a:t>efekt netto, potencjał i logistyka </a:t>
            </a:r>
            <a:r>
              <a:rPr lang="pl" sz="1600">
                <a:solidFill>
                  <a:srgbClr val="666666"/>
                </a:solidFill>
                <a:highlight>
                  <a:srgbClr val="A4C2F4"/>
                </a:highlight>
              </a:rPr>
              <a:t>in-outów</a:t>
            </a:r>
            <a:endParaRPr sz="1600">
              <a:solidFill>
                <a:srgbClr val="666666"/>
              </a:solidFill>
              <a:highlight>
                <a:srgbClr val="A4C2F4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ctrTitle"/>
          </p:nvPr>
        </p:nvSpPr>
        <p:spPr>
          <a:xfrm>
            <a:off x="311700" y="1334275"/>
            <a:ext cx="8520600" cy="92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4000"/>
              <a:t>Optymalizacja media mixu</a:t>
            </a:r>
            <a:endParaRPr sz="4000"/>
          </a:p>
        </p:txBody>
      </p:sp>
      <p:sp>
        <p:nvSpPr>
          <p:cNvPr id="103" name="Google Shape;103;p19"/>
          <p:cNvSpPr txBox="1"/>
          <p:nvPr>
            <p:ph idx="1" type="subTitle"/>
          </p:nvPr>
        </p:nvSpPr>
        <p:spPr>
          <a:xfrm>
            <a:off x="241675" y="2256175"/>
            <a:ext cx="8520600" cy="4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666666"/>
                </a:solidFill>
              </a:rPr>
              <a:t>Syntetyczna analiza mediów</a:t>
            </a:r>
            <a:endParaRPr sz="1400">
              <a:solidFill>
                <a:srgbClr val="666666"/>
              </a:solidFill>
            </a:endParaRPr>
          </a:p>
        </p:txBody>
      </p:sp>
      <p:cxnSp>
        <p:nvCxnSpPr>
          <p:cNvPr id="104" name="Google Shape;104;p19"/>
          <p:cNvCxnSpPr/>
          <p:nvPr/>
        </p:nvCxnSpPr>
        <p:spPr>
          <a:xfrm flipH="1" rot="10800000">
            <a:off x="3366825" y="2308275"/>
            <a:ext cx="2272500" cy="6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0" y="0"/>
            <a:ext cx="1959900" cy="4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8393"/>
              <a:buFont typeface="Arial"/>
              <a:buNone/>
            </a:pPr>
            <a:r>
              <a:rPr b="1" lang="pl" sz="1120">
                <a:solidFill>
                  <a:srgbClr val="000000"/>
                </a:solidFill>
              </a:rPr>
              <a:t>Zwroty z inwestycji w media </a:t>
            </a:r>
            <a:endParaRPr b="1" sz="112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9118"/>
              <a:buFont typeface="Arial"/>
              <a:buNone/>
            </a:pPr>
            <a:r>
              <a:rPr lang="pl" sz="831">
                <a:solidFill>
                  <a:srgbClr val="666666"/>
                </a:solidFill>
              </a:rPr>
              <a:t>Rok 2011</a:t>
            </a:r>
            <a:endParaRPr sz="831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775" y="462600"/>
            <a:ext cx="1003250" cy="4560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4025" y="462600"/>
            <a:ext cx="7775525" cy="4560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763" y="462600"/>
            <a:ext cx="3171825" cy="70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0" y="0"/>
            <a:ext cx="2501700" cy="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120">
                <a:solidFill>
                  <a:srgbClr val="000000"/>
                </a:solidFill>
              </a:rPr>
              <a:t>Porównanie efektywności kanałów mediowych</a:t>
            </a:r>
            <a:r>
              <a:rPr b="1" lang="pl" sz="1120">
                <a:solidFill>
                  <a:srgbClr val="000000"/>
                </a:solidFill>
              </a:rPr>
              <a:t> – krzywe rentowności</a:t>
            </a:r>
            <a:endParaRPr b="1" sz="112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831">
                <a:solidFill>
                  <a:srgbClr val="666666"/>
                </a:solidFill>
              </a:rPr>
              <a:t>Rok 2011</a:t>
            </a:r>
            <a:endParaRPr sz="831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000" y="606400"/>
            <a:ext cx="8818399" cy="438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/>
          <p:nvPr/>
        </p:nvSpPr>
        <p:spPr>
          <a:xfrm>
            <a:off x="4784525" y="1800725"/>
            <a:ext cx="152700" cy="159300"/>
          </a:xfrm>
          <a:prstGeom prst="ellipse">
            <a:avLst/>
          </a:prstGeom>
          <a:solidFill>
            <a:srgbClr val="00BF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1"/>
          <p:cNvSpPr/>
          <p:nvPr/>
        </p:nvSpPr>
        <p:spPr>
          <a:xfrm>
            <a:off x="2349000" y="4370150"/>
            <a:ext cx="152700" cy="159300"/>
          </a:xfrm>
          <a:prstGeom prst="ellipse">
            <a:avLst/>
          </a:prstGeom>
          <a:solidFill>
            <a:srgbClr val="F876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1"/>
          <p:cNvSpPr txBox="1"/>
          <p:nvPr/>
        </p:nvSpPr>
        <p:spPr>
          <a:xfrm>
            <a:off x="1528875" y="4450475"/>
            <a:ext cx="13836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800">
                <a:solidFill>
                  <a:srgbClr val="F8766D"/>
                </a:solidFill>
              </a:rPr>
              <a:t>Koszt: 1262588</a:t>
            </a:r>
            <a:endParaRPr sz="800">
              <a:solidFill>
                <a:srgbClr val="F8766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800">
                <a:solidFill>
                  <a:srgbClr val="F8766D"/>
                </a:solidFill>
              </a:rPr>
              <a:t>Przychód: 0</a:t>
            </a:r>
            <a:endParaRPr sz="800">
              <a:solidFill>
                <a:srgbClr val="F8766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800">
                <a:solidFill>
                  <a:srgbClr val="F8766D"/>
                </a:solidFill>
              </a:rPr>
              <a:t>Zysk: –1262588</a:t>
            </a:r>
            <a:endParaRPr b="1" sz="800">
              <a:solidFill>
                <a:srgbClr val="F8766D"/>
              </a:solidFill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4039050" y="1356050"/>
            <a:ext cx="13188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800">
                <a:solidFill>
                  <a:srgbClr val="00BFC4"/>
                </a:solidFill>
              </a:rPr>
              <a:t>Koszt: 3796770</a:t>
            </a:r>
            <a:endParaRPr sz="800">
              <a:solidFill>
                <a:srgbClr val="00BFC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800">
                <a:solidFill>
                  <a:srgbClr val="00BFC4"/>
                </a:solidFill>
              </a:rPr>
              <a:t>Przychód: 4244265</a:t>
            </a:r>
            <a:endParaRPr sz="800">
              <a:solidFill>
                <a:srgbClr val="00BFC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800">
                <a:solidFill>
                  <a:srgbClr val="00BFC4"/>
                </a:solidFill>
              </a:rPr>
              <a:t>Zysk: 447495</a:t>
            </a:r>
            <a:endParaRPr b="1" sz="800">
              <a:solidFill>
                <a:srgbClr val="00BFC4"/>
              </a:solidFill>
            </a:endParaRPr>
          </a:p>
        </p:txBody>
      </p:sp>
      <p:sp>
        <p:nvSpPr>
          <p:cNvPr id="123" name="Google Shape;123;p21"/>
          <p:cNvSpPr/>
          <p:nvPr/>
        </p:nvSpPr>
        <p:spPr>
          <a:xfrm>
            <a:off x="1237850" y="4064725"/>
            <a:ext cx="6294000" cy="859500"/>
          </a:xfrm>
          <a:custGeom>
            <a:rect b="b" l="l" r="r" t="t"/>
            <a:pathLst>
              <a:path extrusionOk="0" h="34380" w="251760">
                <a:moveTo>
                  <a:pt x="0" y="15430"/>
                </a:moveTo>
                <a:cubicBezTo>
                  <a:pt x="15566" y="12858"/>
                  <a:pt x="63256" y="0"/>
                  <a:pt x="93395" y="0"/>
                </a:cubicBezTo>
                <a:cubicBezTo>
                  <a:pt x="123534" y="0"/>
                  <a:pt x="156651" y="10332"/>
                  <a:pt x="180834" y="15430"/>
                </a:cubicBezTo>
                <a:cubicBezTo>
                  <a:pt x="205018" y="20528"/>
                  <a:pt x="226675" y="27432"/>
                  <a:pt x="238496" y="30590"/>
                </a:cubicBezTo>
                <a:cubicBezTo>
                  <a:pt x="250317" y="33748"/>
                  <a:pt x="249549" y="33748"/>
                  <a:pt x="251760" y="34380"/>
                </a:cubicBezTo>
              </a:path>
            </a:pathLst>
          </a:custGeom>
          <a:noFill/>
          <a:ln cap="flat" cmpd="sng" w="28575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24" name="Google Shape;124;p21"/>
          <p:cNvCxnSpPr/>
          <p:nvPr/>
        </p:nvCxnSpPr>
        <p:spPr>
          <a:xfrm flipH="1" rot="10800000">
            <a:off x="1237850" y="809375"/>
            <a:ext cx="5576700" cy="3641100"/>
          </a:xfrm>
          <a:prstGeom prst="straightConnector1">
            <a:avLst/>
          </a:prstGeom>
          <a:noFill/>
          <a:ln cap="flat" cmpd="sng" w="28575">
            <a:solidFill>
              <a:srgbClr val="76A5A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" name="Google Shape;125;p21"/>
          <p:cNvSpPr/>
          <p:nvPr/>
        </p:nvSpPr>
        <p:spPr>
          <a:xfrm>
            <a:off x="2963625" y="1235800"/>
            <a:ext cx="1116600" cy="3214800"/>
          </a:xfrm>
          <a:prstGeom prst="rect">
            <a:avLst/>
          </a:prstGeom>
          <a:solidFill>
            <a:srgbClr val="C0F1F2">
              <a:alpha val="381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/>
          <p:nvPr/>
        </p:nvSpPr>
        <p:spPr>
          <a:xfrm>
            <a:off x="4048700" y="1235800"/>
            <a:ext cx="1624500" cy="3214800"/>
          </a:xfrm>
          <a:prstGeom prst="rect">
            <a:avLst/>
          </a:prstGeom>
          <a:solidFill>
            <a:srgbClr val="9DD0D1">
              <a:alpha val="521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 txBox="1"/>
          <p:nvPr/>
        </p:nvSpPr>
        <p:spPr>
          <a:xfrm>
            <a:off x="2977150" y="809450"/>
            <a:ext cx="10716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900">
                <a:solidFill>
                  <a:srgbClr val="C0F1F2"/>
                </a:solidFill>
              </a:rPr>
              <a:t>Max zysk</a:t>
            </a:r>
            <a:endParaRPr b="1" sz="900">
              <a:solidFill>
                <a:srgbClr val="C0F1F2"/>
              </a:solidFill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4048700" y="809450"/>
            <a:ext cx="16245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900">
                <a:solidFill>
                  <a:srgbClr val="9DD0D1"/>
                </a:solidFill>
              </a:rPr>
              <a:t>Dalsze zwiększanie sprzedaży</a:t>
            </a:r>
            <a:endParaRPr b="1" sz="900">
              <a:solidFill>
                <a:srgbClr val="9DD0D1"/>
              </a:solidFill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6855075" y="606400"/>
            <a:ext cx="8325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000">
                <a:solidFill>
                  <a:srgbClr val="76A5AF"/>
                </a:solidFill>
              </a:rPr>
              <a:t>Koszt</a:t>
            </a:r>
            <a:endParaRPr b="1" sz="1000">
              <a:solidFill>
                <a:srgbClr val="76A5AF"/>
              </a:solidFill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7562425" y="4758550"/>
            <a:ext cx="8325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000">
                <a:solidFill>
                  <a:srgbClr val="00FFFF"/>
                </a:solidFill>
              </a:rPr>
              <a:t>Zysk TV</a:t>
            </a:r>
            <a:endParaRPr b="1" sz="1000">
              <a:solidFill>
                <a:srgbClr val="00FFFF"/>
              </a:solidFill>
            </a:endParaRPr>
          </a:p>
        </p:txBody>
      </p:sp>
      <p:pic>
        <p:nvPicPr>
          <p:cNvPr id="131" name="Google Shape;13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7600" y="720900"/>
            <a:ext cx="301600" cy="3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0075" y="4343675"/>
            <a:ext cx="301600" cy="3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1"/>
          <p:cNvSpPr txBox="1"/>
          <p:nvPr/>
        </p:nvSpPr>
        <p:spPr>
          <a:xfrm>
            <a:off x="8202150" y="525250"/>
            <a:ext cx="8325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000">
                <a:solidFill>
                  <a:srgbClr val="00BFC4"/>
                </a:solidFill>
              </a:rPr>
              <a:t>Przychód TV</a:t>
            </a:r>
            <a:endParaRPr b="1" sz="1000">
              <a:solidFill>
                <a:srgbClr val="00BFC4"/>
              </a:solidFill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8202150" y="4132400"/>
            <a:ext cx="8325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000">
                <a:solidFill>
                  <a:srgbClr val="F8766D"/>
                </a:solidFill>
              </a:rPr>
              <a:t>Przychód OH</a:t>
            </a:r>
            <a:endParaRPr b="1" sz="1000">
              <a:solidFill>
                <a:srgbClr val="F8766D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300" y="560100"/>
            <a:ext cx="9047700" cy="447385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 txBox="1"/>
          <p:nvPr>
            <p:ph type="title"/>
          </p:nvPr>
        </p:nvSpPr>
        <p:spPr>
          <a:xfrm>
            <a:off x="0" y="0"/>
            <a:ext cx="1959900" cy="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120">
                <a:solidFill>
                  <a:srgbClr val="000000"/>
                </a:solidFill>
              </a:rPr>
              <a:t>Optymalna alokacja budżetu pomiędzy kanały mediowe</a:t>
            </a:r>
            <a:endParaRPr b="1" sz="112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831">
                <a:solidFill>
                  <a:srgbClr val="666666"/>
                </a:solidFill>
              </a:rPr>
              <a:t>Rok 2011</a:t>
            </a:r>
            <a:endParaRPr sz="831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2"/>
          <p:cNvSpPr txBox="1"/>
          <p:nvPr/>
        </p:nvSpPr>
        <p:spPr>
          <a:xfrm>
            <a:off x="7984000" y="1690650"/>
            <a:ext cx="1101000" cy="206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2" name="Google Shape;142;p22"/>
          <p:cNvSpPr/>
          <p:nvPr/>
        </p:nvSpPr>
        <p:spPr>
          <a:xfrm>
            <a:off x="3869700" y="3650975"/>
            <a:ext cx="159300" cy="1593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5086400" y="4384400"/>
            <a:ext cx="159300" cy="159300"/>
          </a:xfrm>
          <a:prstGeom prst="ellipse">
            <a:avLst/>
          </a:prstGeom>
          <a:solidFill>
            <a:srgbClr val="A8A8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2"/>
          <p:cNvSpPr/>
          <p:nvPr/>
        </p:nvSpPr>
        <p:spPr>
          <a:xfrm>
            <a:off x="3869700" y="3650975"/>
            <a:ext cx="159300" cy="159300"/>
          </a:xfrm>
          <a:prstGeom prst="ellipse">
            <a:avLst/>
          </a:prstGeom>
          <a:solidFill>
            <a:srgbClr val="CCCCCC">
              <a:alpha val="49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0" y="0"/>
            <a:ext cx="1538400" cy="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120">
                <a:solidFill>
                  <a:srgbClr val="000000"/>
                </a:solidFill>
              </a:rPr>
              <a:t>Potencjalny zysk z realokacji budżetu</a:t>
            </a:r>
            <a:endParaRPr b="1" sz="112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831">
                <a:solidFill>
                  <a:srgbClr val="666666"/>
                </a:solidFill>
              </a:rPr>
              <a:t>Rok 2011</a:t>
            </a:r>
            <a:endParaRPr sz="831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3"/>
          <p:cNvSpPr/>
          <p:nvPr/>
        </p:nvSpPr>
        <p:spPr>
          <a:xfrm>
            <a:off x="161400" y="944775"/>
            <a:ext cx="4243800" cy="407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3"/>
          <p:cNvSpPr txBox="1"/>
          <p:nvPr/>
        </p:nvSpPr>
        <p:spPr>
          <a:xfrm>
            <a:off x="3439625" y="140825"/>
            <a:ext cx="2088900" cy="6009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900">
                <a:solidFill>
                  <a:srgbClr val="76A5AF"/>
                </a:solidFill>
              </a:rPr>
              <a:t>CAŁKOWITY BUDŻET MEDIOWY</a:t>
            </a:r>
            <a:endParaRPr b="1" sz="900">
              <a:solidFill>
                <a:srgbClr val="76A5A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300">
                <a:solidFill>
                  <a:srgbClr val="45818E"/>
                </a:solidFill>
              </a:rPr>
              <a:t>5060000 PLN</a:t>
            </a:r>
            <a:endParaRPr b="1" sz="2300">
              <a:solidFill>
                <a:srgbClr val="45818E"/>
              </a:solidFill>
            </a:endParaRPr>
          </a:p>
        </p:txBody>
      </p:sp>
      <p:sp>
        <p:nvSpPr>
          <p:cNvPr id="152" name="Google Shape;152;p23"/>
          <p:cNvSpPr txBox="1"/>
          <p:nvPr/>
        </p:nvSpPr>
        <p:spPr>
          <a:xfrm>
            <a:off x="1603050" y="944800"/>
            <a:ext cx="14349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l" sz="1700" u="sng">
                <a:solidFill>
                  <a:srgbClr val="A2C4C9"/>
                </a:solidFill>
              </a:rPr>
              <a:t>Wariant 1.</a:t>
            </a:r>
            <a:endParaRPr i="1" sz="1700" u="sng">
              <a:solidFill>
                <a:srgbClr val="A2C4C9"/>
              </a:solidFill>
            </a:endParaRPr>
          </a:p>
        </p:txBody>
      </p:sp>
      <p:cxnSp>
        <p:nvCxnSpPr>
          <p:cNvPr id="153" name="Google Shape;153;p23"/>
          <p:cNvCxnSpPr/>
          <p:nvPr/>
        </p:nvCxnSpPr>
        <p:spPr>
          <a:xfrm flipH="1" rot="10800000">
            <a:off x="980650" y="2057250"/>
            <a:ext cx="642900" cy="514500"/>
          </a:xfrm>
          <a:prstGeom prst="straightConnector1">
            <a:avLst/>
          </a:prstGeom>
          <a:noFill/>
          <a:ln cap="flat" cmpd="sng" w="28575">
            <a:solidFill>
              <a:srgbClr val="45818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" name="Google Shape;154;p23"/>
          <p:cNvSpPr txBox="1"/>
          <p:nvPr/>
        </p:nvSpPr>
        <p:spPr>
          <a:xfrm>
            <a:off x="364750" y="2460150"/>
            <a:ext cx="642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000">
                <a:solidFill>
                  <a:srgbClr val="666666"/>
                </a:solidFill>
              </a:rPr>
              <a:t>TV 75%</a:t>
            </a:r>
            <a:endParaRPr sz="1000">
              <a:solidFill>
                <a:srgbClr val="666666"/>
              </a:solidFill>
            </a:endParaRPr>
          </a:p>
        </p:txBody>
      </p:sp>
      <p:sp>
        <p:nvSpPr>
          <p:cNvPr id="155" name="Google Shape;155;p23"/>
          <p:cNvSpPr/>
          <p:nvPr/>
        </p:nvSpPr>
        <p:spPr>
          <a:xfrm>
            <a:off x="933300" y="2514900"/>
            <a:ext cx="101400" cy="10830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3"/>
          <p:cNvSpPr/>
          <p:nvPr/>
        </p:nvSpPr>
        <p:spPr>
          <a:xfrm>
            <a:off x="1579750" y="1997300"/>
            <a:ext cx="101400" cy="10830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3"/>
          <p:cNvSpPr txBox="1"/>
          <p:nvPr/>
        </p:nvSpPr>
        <p:spPr>
          <a:xfrm>
            <a:off x="1538400" y="1746900"/>
            <a:ext cx="642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000">
                <a:solidFill>
                  <a:srgbClr val="666666"/>
                </a:solidFill>
              </a:rPr>
              <a:t>87.5</a:t>
            </a:r>
            <a:r>
              <a:rPr lang="pl" sz="1000">
                <a:solidFill>
                  <a:srgbClr val="666666"/>
                </a:solidFill>
              </a:rPr>
              <a:t>%</a:t>
            </a:r>
            <a:endParaRPr sz="1000">
              <a:solidFill>
                <a:srgbClr val="666666"/>
              </a:solidFill>
            </a:endParaRPr>
          </a:p>
        </p:txBody>
      </p:sp>
      <p:cxnSp>
        <p:nvCxnSpPr>
          <p:cNvPr id="158" name="Google Shape;158;p23"/>
          <p:cNvCxnSpPr/>
          <p:nvPr/>
        </p:nvCxnSpPr>
        <p:spPr>
          <a:xfrm>
            <a:off x="1034800" y="3299975"/>
            <a:ext cx="602400" cy="500700"/>
          </a:xfrm>
          <a:prstGeom prst="straightConnector1">
            <a:avLst/>
          </a:prstGeom>
          <a:noFill/>
          <a:ln cap="flat" cmpd="sng" w="28575">
            <a:solidFill>
              <a:srgbClr val="76A5A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23"/>
          <p:cNvSpPr/>
          <p:nvPr/>
        </p:nvSpPr>
        <p:spPr>
          <a:xfrm>
            <a:off x="1579750" y="3749225"/>
            <a:ext cx="101400" cy="108300"/>
          </a:xfrm>
          <a:prstGeom prst="ellipse">
            <a:avLst/>
          </a:prstGeom>
          <a:solidFill>
            <a:srgbClr val="76A5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3"/>
          <p:cNvSpPr/>
          <p:nvPr/>
        </p:nvSpPr>
        <p:spPr>
          <a:xfrm>
            <a:off x="980650" y="3241650"/>
            <a:ext cx="101400" cy="108300"/>
          </a:xfrm>
          <a:prstGeom prst="ellipse">
            <a:avLst/>
          </a:prstGeom>
          <a:solidFill>
            <a:srgbClr val="76A5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3"/>
          <p:cNvSpPr txBox="1"/>
          <p:nvPr/>
        </p:nvSpPr>
        <p:spPr>
          <a:xfrm>
            <a:off x="364750" y="3076650"/>
            <a:ext cx="7452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000">
                <a:solidFill>
                  <a:srgbClr val="666666"/>
                </a:solidFill>
              </a:rPr>
              <a:t>OH</a:t>
            </a:r>
            <a:r>
              <a:rPr lang="pl" sz="1000">
                <a:solidFill>
                  <a:srgbClr val="666666"/>
                </a:solidFill>
              </a:rPr>
              <a:t> 25%</a:t>
            </a:r>
            <a:endParaRPr sz="1000">
              <a:solidFill>
                <a:srgbClr val="666666"/>
              </a:solidFill>
            </a:endParaRPr>
          </a:p>
        </p:txBody>
      </p:sp>
      <p:sp>
        <p:nvSpPr>
          <p:cNvPr id="162" name="Google Shape;162;p23"/>
          <p:cNvSpPr txBox="1"/>
          <p:nvPr/>
        </p:nvSpPr>
        <p:spPr>
          <a:xfrm>
            <a:off x="1606750" y="3749225"/>
            <a:ext cx="6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000">
                <a:solidFill>
                  <a:srgbClr val="666666"/>
                </a:solidFill>
              </a:rPr>
              <a:t>1</a:t>
            </a:r>
            <a:r>
              <a:rPr lang="pl" sz="1000">
                <a:solidFill>
                  <a:srgbClr val="666666"/>
                </a:solidFill>
              </a:rPr>
              <a:t>2.5%</a:t>
            </a:r>
            <a:endParaRPr sz="1000">
              <a:solidFill>
                <a:srgbClr val="666666"/>
              </a:solidFill>
            </a:endParaRPr>
          </a:p>
        </p:txBody>
      </p:sp>
      <p:cxnSp>
        <p:nvCxnSpPr>
          <p:cNvPr id="163" name="Google Shape;163;p23"/>
          <p:cNvCxnSpPr/>
          <p:nvPr/>
        </p:nvCxnSpPr>
        <p:spPr>
          <a:xfrm flipH="1">
            <a:off x="2117725" y="1486200"/>
            <a:ext cx="27000" cy="32892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" name="Google Shape;164;p23"/>
          <p:cNvSpPr txBox="1"/>
          <p:nvPr/>
        </p:nvSpPr>
        <p:spPr>
          <a:xfrm>
            <a:off x="527100" y="1427138"/>
            <a:ext cx="1434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B7B7B7"/>
                </a:solidFill>
              </a:rPr>
              <a:t>Realokacja</a:t>
            </a:r>
            <a:endParaRPr sz="1100">
              <a:solidFill>
                <a:srgbClr val="B7B7B7"/>
              </a:solidFill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2618600" y="1427151"/>
            <a:ext cx="1434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B7B7B7"/>
                </a:solidFill>
              </a:rPr>
              <a:t>Zysk</a:t>
            </a:r>
            <a:endParaRPr sz="1100">
              <a:solidFill>
                <a:srgbClr val="B7B7B7"/>
              </a:solidFill>
            </a:endParaRPr>
          </a:p>
        </p:txBody>
      </p:sp>
      <p:sp>
        <p:nvSpPr>
          <p:cNvPr id="166" name="Google Shape;166;p23"/>
          <p:cNvSpPr txBox="1"/>
          <p:nvPr/>
        </p:nvSpPr>
        <p:spPr>
          <a:xfrm>
            <a:off x="2181300" y="2751775"/>
            <a:ext cx="21696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400">
                <a:solidFill>
                  <a:srgbClr val="45818E"/>
                </a:solidFill>
              </a:rPr>
              <a:t>+382 </a:t>
            </a:r>
            <a:r>
              <a:rPr b="1" lang="pl" sz="2400">
                <a:solidFill>
                  <a:srgbClr val="45818E"/>
                </a:solidFill>
              </a:rPr>
              <a:t>000 PLN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7" name="Google Shape;167;p23"/>
          <p:cNvSpPr/>
          <p:nvPr/>
        </p:nvSpPr>
        <p:spPr>
          <a:xfrm>
            <a:off x="4572000" y="944775"/>
            <a:ext cx="4398600" cy="407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3"/>
          <p:cNvSpPr txBox="1"/>
          <p:nvPr/>
        </p:nvSpPr>
        <p:spPr>
          <a:xfrm>
            <a:off x="6080050" y="1041350"/>
            <a:ext cx="14349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l" sz="1700" u="sng">
                <a:solidFill>
                  <a:srgbClr val="A2C4C9"/>
                </a:solidFill>
              </a:rPr>
              <a:t>Wariant 2.</a:t>
            </a:r>
            <a:endParaRPr i="1" sz="1700" u="sng">
              <a:solidFill>
                <a:srgbClr val="A2C4C9"/>
              </a:solidFill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4863738" y="1486188"/>
            <a:ext cx="1434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B7B7B7"/>
                </a:solidFill>
              </a:rPr>
              <a:t>Realokacja</a:t>
            </a:r>
            <a:endParaRPr sz="1100">
              <a:solidFill>
                <a:srgbClr val="B7B7B7"/>
              </a:solidFill>
            </a:endParaRPr>
          </a:p>
        </p:txBody>
      </p:sp>
      <p:cxnSp>
        <p:nvCxnSpPr>
          <p:cNvPr id="170" name="Google Shape;170;p23"/>
          <p:cNvCxnSpPr/>
          <p:nvPr/>
        </p:nvCxnSpPr>
        <p:spPr>
          <a:xfrm flipH="1">
            <a:off x="6567600" y="1486200"/>
            <a:ext cx="27000" cy="32892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23"/>
          <p:cNvSpPr/>
          <p:nvPr/>
        </p:nvSpPr>
        <p:spPr>
          <a:xfrm>
            <a:off x="5848525" y="2406600"/>
            <a:ext cx="101400" cy="10830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3"/>
          <p:cNvSpPr/>
          <p:nvPr/>
        </p:nvSpPr>
        <p:spPr>
          <a:xfrm>
            <a:off x="5275175" y="1932600"/>
            <a:ext cx="101400" cy="10830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3"/>
          <p:cNvSpPr txBox="1"/>
          <p:nvPr/>
        </p:nvSpPr>
        <p:spPr>
          <a:xfrm>
            <a:off x="5848450" y="2393100"/>
            <a:ext cx="642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000">
                <a:solidFill>
                  <a:srgbClr val="666666"/>
                </a:solidFill>
              </a:rPr>
              <a:t>50%</a:t>
            </a:r>
            <a:endParaRPr sz="1000">
              <a:solidFill>
                <a:srgbClr val="666666"/>
              </a:solidFill>
            </a:endParaRPr>
          </a:p>
        </p:txBody>
      </p:sp>
      <p:cxnSp>
        <p:nvCxnSpPr>
          <p:cNvPr id="174" name="Google Shape;174;p23"/>
          <p:cNvCxnSpPr/>
          <p:nvPr/>
        </p:nvCxnSpPr>
        <p:spPr>
          <a:xfrm>
            <a:off x="5308900" y="3299975"/>
            <a:ext cx="602400" cy="500700"/>
          </a:xfrm>
          <a:prstGeom prst="straightConnector1">
            <a:avLst/>
          </a:prstGeom>
          <a:noFill/>
          <a:ln cap="flat" cmpd="sng" w="28575">
            <a:solidFill>
              <a:srgbClr val="76A5A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23"/>
          <p:cNvCxnSpPr/>
          <p:nvPr/>
        </p:nvCxnSpPr>
        <p:spPr>
          <a:xfrm>
            <a:off x="5308900" y="1970100"/>
            <a:ext cx="602400" cy="500700"/>
          </a:xfrm>
          <a:prstGeom prst="straightConnector1">
            <a:avLst/>
          </a:prstGeom>
          <a:noFill/>
          <a:ln cap="flat" cmpd="sng" w="28575">
            <a:solidFill>
              <a:srgbClr val="45818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23"/>
          <p:cNvSpPr txBox="1"/>
          <p:nvPr/>
        </p:nvSpPr>
        <p:spPr>
          <a:xfrm>
            <a:off x="4733675" y="1728150"/>
            <a:ext cx="696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000">
                <a:solidFill>
                  <a:srgbClr val="666666"/>
                </a:solidFill>
              </a:rPr>
              <a:t>TV 75%</a:t>
            </a:r>
            <a:endParaRPr sz="1000">
              <a:solidFill>
                <a:srgbClr val="666666"/>
              </a:solidFill>
            </a:endParaRPr>
          </a:p>
        </p:txBody>
      </p:sp>
      <p:sp>
        <p:nvSpPr>
          <p:cNvPr id="177" name="Google Shape;177;p23"/>
          <p:cNvSpPr/>
          <p:nvPr/>
        </p:nvSpPr>
        <p:spPr>
          <a:xfrm>
            <a:off x="5234575" y="3231775"/>
            <a:ext cx="101400" cy="108300"/>
          </a:xfrm>
          <a:prstGeom prst="ellipse">
            <a:avLst/>
          </a:prstGeom>
          <a:solidFill>
            <a:srgbClr val="76A5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3"/>
          <p:cNvSpPr/>
          <p:nvPr/>
        </p:nvSpPr>
        <p:spPr>
          <a:xfrm>
            <a:off x="5848525" y="3749225"/>
            <a:ext cx="101400" cy="108300"/>
          </a:xfrm>
          <a:prstGeom prst="ellipse">
            <a:avLst/>
          </a:prstGeom>
          <a:solidFill>
            <a:srgbClr val="76A5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3"/>
          <p:cNvSpPr txBox="1"/>
          <p:nvPr/>
        </p:nvSpPr>
        <p:spPr>
          <a:xfrm>
            <a:off x="4631500" y="3076650"/>
            <a:ext cx="7452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000">
                <a:solidFill>
                  <a:srgbClr val="666666"/>
                </a:solidFill>
              </a:rPr>
              <a:t>OH 25%</a:t>
            </a:r>
            <a:endParaRPr sz="1000">
              <a:solidFill>
                <a:srgbClr val="666666"/>
              </a:solidFill>
            </a:endParaRPr>
          </a:p>
        </p:txBody>
      </p:sp>
      <p:sp>
        <p:nvSpPr>
          <p:cNvPr id="180" name="Google Shape;180;p23"/>
          <p:cNvSpPr txBox="1"/>
          <p:nvPr/>
        </p:nvSpPr>
        <p:spPr>
          <a:xfrm>
            <a:off x="5848525" y="3749225"/>
            <a:ext cx="696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000">
                <a:solidFill>
                  <a:srgbClr val="666666"/>
                </a:solidFill>
              </a:rPr>
              <a:t>12.5%</a:t>
            </a:r>
            <a:endParaRPr sz="1000">
              <a:solidFill>
                <a:srgbClr val="666666"/>
              </a:solidFill>
            </a:endParaRPr>
          </a:p>
        </p:txBody>
      </p:sp>
      <p:sp>
        <p:nvSpPr>
          <p:cNvPr id="181" name="Google Shape;181;p23"/>
          <p:cNvSpPr txBox="1"/>
          <p:nvPr/>
        </p:nvSpPr>
        <p:spPr>
          <a:xfrm>
            <a:off x="7108900" y="1486201"/>
            <a:ext cx="1434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B7B7B7"/>
                </a:solidFill>
              </a:rPr>
              <a:t>Zysk</a:t>
            </a:r>
            <a:endParaRPr sz="1100">
              <a:solidFill>
                <a:srgbClr val="B7B7B7"/>
              </a:solidFill>
            </a:endParaRPr>
          </a:p>
        </p:txBody>
      </p:sp>
      <p:sp>
        <p:nvSpPr>
          <p:cNvPr id="182" name="Google Shape;182;p23"/>
          <p:cNvSpPr txBox="1"/>
          <p:nvPr/>
        </p:nvSpPr>
        <p:spPr>
          <a:xfrm>
            <a:off x="6733700" y="1932600"/>
            <a:ext cx="21696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400">
                <a:solidFill>
                  <a:srgbClr val="45818E"/>
                </a:solidFill>
              </a:rPr>
              <a:t>+764 000 PLN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7108900" y="3049576"/>
            <a:ext cx="1434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B7B7B7"/>
                </a:solidFill>
              </a:rPr>
              <a:t>Uwolniony budżet</a:t>
            </a:r>
            <a:endParaRPr sz="1100">
              <a:solidFill>
                <a:srgbClr val="B7B7B7"/>
              </a:solidFill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6594600" y="3512475"/>
            <a:ext cx="24801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400">
                <a:solidFill>
                  <a:srgbClr val="45818E"/>
                </a:solidFill>
              </a:rPr>
              <a:t>+1 900 000 PLN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/>
        </p:nvSpPr>
        <p:spPr>
          <a:xfrm>
            <a:off x="3356550" y="2290650"/>
            <a:ext cx="24309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chemeClr val="dk2"/>
                </a:solidFill>
              </a:rPr>
              <a:t>Dziękuję za uwagę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